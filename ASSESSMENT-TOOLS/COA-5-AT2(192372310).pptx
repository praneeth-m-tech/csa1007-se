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92608"/>
            <a:ext cx="457200" cy="722376"/>
          </a:xfrm>
          <a:prstGeom prst="rect">
            <a:avLst/>
          </a:prstGeom>
        </p:spPr>
      </p:pic>
      <p:pic>
        <p:nvPicPr>
          <p:cNvPr id="3" name="Image 1" descr="/home/claude/work/assets/logo_sim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92608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80160" y="3840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1280160" y="822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SAVEETHA INSTITUTE OF MEDICAL AND TECHNICAL SCIENCES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1280160" y="1417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COA-5 ASSESSMENT TOOL-2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on Emerging Technologies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5146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in Cybersecurity and Threat Detection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3832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Artificial Intelligence to Detect, Prevent, and Respond to Cyber Threats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9776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CSA-1007 – Software Engineering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737360" y="48920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Manne Praneeth Kumar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192372310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858000" y="4892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
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 Subramanian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92608"/>
            <a:ext cx="457200" cy="722376"/>
          </a:xfrm>
          <a:prstGeom prst="rect">
            <a:avLst/>
          </a:prstGeom>
        </p:spPr>
      </p:pic>
      <p:pic>
        <p:nvPicPr>
          <p:cNvPr id="3" name="Image 1" descr="/home/claude/work/assets/logo_sim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92608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80160" y="2926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NEED FOR AI IN CYBERSECURITY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1280160" y="960120"/>
            <a:ext cx="9601200" cy="0"/>
          </a:xfrm>
          <a:prstGeom prst="line">
            <a:avLst/>
          </a:prstGeom>
          <a:noFill/>
          <a:ln w="19050">
            <a:solidFill>
              <a:srgbClr val="EEF4F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48640" y="1234440"/>
            <a:ext cx="5394960" cy="5029200"/>
          </a:xfrm>
          <a:prstGeom prst="rect">
            <a:avLst>
              <a:gd name="adj" fmla="val 1455"/>
            </a:avLst>
          </a:prstGeom>
          <a:solidFill>
            <a:srgbClr val="EEF4F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187452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AI and Machine Learning to identify, prevent, and respond to cyberattacks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normal network and user behaviour, then flags deviations as potential threats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static, signature-based rules to detect previously unseen (zero-day) attacks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modern SIEM, SOAR, EDR and XDR security platforms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217920" y="1234440"/>
            <a:ext cx="5394960" cy="5029200"/>
          </a:xfrm>
          <a:prstGeom prst="rect">
            <a:avLst>
              <a:gd name="adj" fmla="val 1455"/>
            </a:avLst>
          </a:prstGeom>
          <a:solidFill>
            <a:srgbClr val="1B3A5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53796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it?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537960" y="187452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volume and sophistication have outgrown manual, rule-based monitoring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face alert fatigue from thousands of daily false alarms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and worms can spread across a network in minutes, not hours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shortage of skilled cybersecurity analysts widens the defence gap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themselves now use AI, demanding an equally intelligent defence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92608"/>
            <a:ext cx="457200" cy="722376"/>
          </a:xfrm>
          <a:prstGeom prst="rect">
            <a:avLst/>
          </a:prstGeom>
        </p:spPr>
      </p:pic>
      <p:pic>
        <p:nvPicPr>
          <p:cNvPr id="3" name="Image 1" descr="/home/claude/work/assets/logo_sim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92608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80160" y="2926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 / ARCHITECTURE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1280160" y="960120"/>
            <a:ext cx="9601200" cy="0"/>
          </a:xfrm>
          <a:prstGeom prst="line">
            <a:avLst/>
          </a:prstGeom>
          <a:noFill/>
          <a:ln w="19050">
            <a:solidFill>
              <a:srgbClr val="EEF4F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85800" y="21031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1B3A5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85800" y="21031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487168" y="2528316"/>
            <a:ext cx="219456" cy="201168"/>
          </a:xfrm>
          <a:prstGeom prst="rightArrow">
            <a:avLst/>
          </a:prstGeom>
          <a:solidFill>
            <a:srgbClr val="6B6B6B"/>
          </a:solidFill>
          <a:ln/>
        </p:spPr>
      </p:sp>
      <p:sp>
        <p:nvSpPr>
          <p:cNvPr id="9" name="Shape 5"/>
          <p:cNvSpPr/>
          <p:nvPr/>
        </p:nvSpPr>
        <p:spPr>
          <a:xfrm>
            <a:off x="2724912" y="21031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1B3A5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2724912" y="21031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26280" y="2528316"/>
            <a:ext cx="219456" cy="201168"/>
          </a:xfrm>
          <a:prstGeom prst="rightArrow">
            <a:avLst/>
          </a:prstGeom>
          <a:solidFill>
            <a:srgbClr val="6B6B6B"/>
          </a:solidFill>
          <a:ln/>
        </p:spPr>
      </p:sp>
      <p:sp>
        <p:nvSpPr>
          <p:cNvPr id="12" name="Shape 8"/>
          <p:cNvSpPr/>
          <p:nvPr/>
        </p:nvSpPr>
        <p:spPr>
          <a:xfrm>
            <a:off x="4764024" y="21031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2E9E8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764024" y="21031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565392" y="2528316"/>
            <a:ext cx="219456" cy="201168"/>
          </a:xfrm>
          <a:prstGeom prst="rightArrow">
            <a:avLst/>
          </a:prstGeom>
          <a:solidFill>
            <a:srgbClr val="6B6B6B"/>
          </a:solidFill>
          <a:ln/>
        </p:spPr>
      </p:sp>
      <p:sp>
        <p:nvSpPr>
          <p:cNvPr id="15" name="Shape 11"/>
          <p:cNvSpPr/>
          <p:nvPr/>
        </p:nvSpPr>
        <p:spPr>
          <a:xfrm>
            <a:off x="6803136" y="21031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1B3A5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03136" y="21031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Alert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604504" y="2528316"/>
            <a:ext cx="219456" cy="201168"/>
          </a:xfrm>
          <a:prstGeom prst="rightArrow">
            <a:avLst/>
          </a:prstGeom>
          <a:solidFill>
            <a:srgbClr val="6B6B6B"/>
          </a:solidFill>
          <a:ln/>
        </p:spPr>
      </p:sp>
      <p:sp>
        <p:nvSpPr>
          <p:cNvPr id="18" name="Shape 14"/>
          <p:cNvSpPr/>
          <p:nvPr/>
        </p:nvSpPr>
        <p:spPr>
          <a:xfrm>
            <a:off x="8842248" y="21031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1B3A5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842248" y="21031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(SOAR)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960120" y="3429000"/>
            <a:ext cx="9390888" cy="256032"/>
          </a:xfrm>
          <a:prstGeom prst="leftArrow">
            <a:avLst/>
          </a:prstGeom>
          <a:solidFill>
            <a:srgbClr val="EEF4F4"/>
          </a:solidFill>
          <a:ln w="12700">
            <a:solidFill>
              <a:srgbClr val="2E9E8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3749040"/>
            <a:ext cx="9939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Loop — retrains the model on new attack patterns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" y="4343400"/>
            <a:ext cx="11064240" cy="1874520"/>
          </a:xfrm>
          <a:prstGeom prst="rect">
            <a:avLst>
              <a:gd name="adj" fmla="val 3902"/>
            </a:avLst>
          </a:prstGeom>
          <a:solidFill>
            <a:srgbClr val="EEF4F4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22960" y="44805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traffic, endpoint logs, user activity and threat-intel feeds are gathered continuously.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Extraction: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converted into measurable attributes (packet size, login time, file behaviour).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Detection Engine: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 and deep-learning models classify activity as normal or malicious.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4–5. Scoring, Alerting &amp; Response: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scored, analysts are alerted, and SOAR playbooks can auto-isolate the threat.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92608"/>
            <a:ext cx="457200" cy="722376"/>
          </a:xfrm>
          <a:prstGeom prst="rect">
            <a:avLst/>
          </a:prstGeom>
        </p:spPr>
      </p:pic>
      <p:pic>
        <p:nvPicPr>
          <p:cNvPr id="3" name="Image 1" descr="/home/claude/work/assets/logo_sim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92608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80160" y="2926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AND TECHNOLOGIES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1280160" y="960120"/>
            <a:ext cx="9601200" cy="0"/>
          </a:xfrm>
          <a:prstGeom prst="line">
            <a:avLst/>
          </a:prstGeom>
          <a:noFill/>
          <a:ln w="19050">
            <a:solidFill>
              <a:srgbClr val="EEF4F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48640" y="1234440"/>
            <a:ext cx="3520440" cy="2103120"/>
          </a:xfrm>
          <a:prstGeom prst="roundRect">
            <a:avLst>
              <a:gd name="adj" fmla="val 2609"/>
            </a:avLst>
          </a:prstGeom>
          <a:solidFill>
            <a:srgbClr val="EEF4F4"/>
          </a:solidFill>
          <a:ln/>
        </p:spPr>
      </p:sp>
      <p:sp>
        <p:nvSpPr>
          <p:cNvPr id="7" name="Shape 3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2E9E8E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14356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1031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traffic, endpoint telemetry, system logs and threat-intelligence feeds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97680" y="1234440"/>
            <a:ext cx="3520440" cy="2103120"/>
          </a:xfrm>
          <a:prstGeom prst="roundRect">
            <a:avLst>
              <a:gd name="adj" fmla="val 2609"/>
            </a:avLst>
          </a:prstGeom>
          <a:solidFill>
            <a:srgbClr val="EEF4F4"/>
          </a:solidFill>
          <a:ln/>
        </p:spPr>
      </p:sp>
      <p:sp>
        <p:nvSpPr>
          <p:cNvPr id="12" name="Shape 8"/>
          <p:cNvSpPr/>
          <p:nvPr/>
        </p:nvSpPr>
        <p:spPr>
          <a:xfrm>
            <a:off x="4526280" y="1463040"/>
            <a:ext cx="457200" cy="457200"/>
          </a:xfrm>
          <a:prstGeom prst="ellipse">
            <a:avLst/>
          </a:prstGeom>
          <a:solidFill>
            <a:srgbClr val="2E9E8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5262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120640" y="14356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Detection Models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1031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classifiers, unsupervised anomaly detection, and deep learning (CNN/RNN) for malware patterns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1234440"/>
            <a:ext cx="3520440" cy="2103120"/>
          </a:xfrm>
          <a:prstGeom prst="roundRect">
            <a:avLst>
              <a:gd name="adj" fmla="val 2609"/>
            </a:avLst>
          </a:prstGeom>
          <a:solidFill>
            <a:srgbClr val="EEF4F4"/>
          </a:solidFill>
          <a:ln/>
        </p:spPr>
      </p:sp>
      <p:sp>
        <p:nvSpPr>
          <p:cNvPr id="17" name="Shape 13"/>
          <p:cNvSpPr/>
          <p:nvPr/>
        </p:nvSpPr>
        <p:spPr>
          <a:xfrm>
            <a:off x="8275320" y="1463040"/>
            <a:ext cx="457200" cy="457200"/>
          </a:xfrm>
          <a:prstGeom prst="ellipse">
            <a:avLst/>
          </a:prstGeom>
          <a:solidFill>
            <a:srgbClr val="2E9E8E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275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8869680" y="14356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for Phishing Defence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75320" y="21031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scan emails and URLs to spot social-engineering and phishing attempts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3611880"/>
            <a:ext cx="3520440" cy="2103120"/>
          </a:xfrm>
          <a:prstGeom prst="roundRect">
            <a:avLst>
              <a:gd name="adj" fmla="val 2609"/>
            </a:avLst>
          </a:prstGeom>
          <a:solidFill>
            <a:srgbClr val="EEF4F4"/>
          </a:solidFill>
          <a:ln/>
        </p:spPr>
      </p:sp>
      <p:sp>
        <p:nvSpPr>
          <p:cNvPr id="22" name="Shape 18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2E9E8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371600" y="38130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UEBA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777240" y="44805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Entity Behaviour Analytics profiles normal behaviour to flag insider threats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297680" y="3611880"/>
            <a:ext cx="3520440" cy="2103120"/>
          </a:xfrm>
          <a:prstGeom prst="roundRect">
            <a:avLst>
              <a:gd name="adj" fmla="val 2609"/>
            </a:avLst>
          </a:prstGeom>
          <a:solidFill>
            <a:srgbClr val="EEF4F4"/>
          </a:solidFill>
          <a:ln/>
        </p:spPr>
      </p:sp>
      <p:sp>
        <p:nvSpPr>
          <p:cNvPr id="27" name="Shape 23"/>
          <p:cNvSpPr/>
          <p:nvPr/>
        </p:nvSpPr>
        <p:spPr>
          <a:xfrm>
            <a:off x="4526280" y="3840480"/>
            <a:ext cx="457200" cy="457200"/>
          </a:xfrm>
          <a:prstGeom prst="ellipse">
            <a:avLst/>
          </a:prstGeom>
          <a:solidFill>
            <a:srgbClr val="2E9E8E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5262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5120640" y="38130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</a:t>
            </a:r>
            <a:endParaRPr lang="en-US" sz="1450" dirty="0"/>
          </a:p>
        </p:txBody>
      </p:sp>
      <p:sp>
        <p:nvSpPr>
          <p:cNvPr id="30" name="Text 26"/>
          <p:cNvSpPr txBox="1"/>
          <p:nvPr/>
        </p:nvSpPr>
        <p:spPr>
          <a:xfrm>
            <a:off x="4526280" y="44805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Centralises logs and correlates events across the enterprise for AI analysis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8046720" y="3611880"/>
            <a:ext cx="3520440" cy="2103120"/>
          </a:xfrm>
          <a:prstGeom prst="roundRect">
            <a:avLst>
              <a:gd name="adj" fmla="val 2609"/>
            </a:avLst>
          </a:prstGeom>
          <a:solidFill>
            <a:srgbClr val="EEF4F4"/>
          </a:solidFill>
          <a:ln/>
        </p:spPr>
      </p:sp>
      <p:sp>
        <p:nvSpPr>
          <p:cNvPr id="32" name="Shape 28"/>
          <p:cNvSpPr/>
          <p:nvPr/>
        </p:nvSpPr>
        <p:spPr>
          <a:xfrm>
            <a:off x="8275320" y="3840480"/>
            <a:ext cx="457200" cy="457200"/>
          </a:xfrm>
          <a:prstGeom prst="ellipse">
            <a:avLst/>
          </a:prstGeom>
          <a:solidFill>
            <a:srgbClr val="2E9E8E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2753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8869680" y="38130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Automation</a:t>
            </a:r>
            <a:endParaRPr lang="en-US" sz="1450" dirty="0"/>
          </a:p>
        </p:txBody>
      </p:sp>
      <p:sp>
        <p:nvSpPr>
          <p:cNvPr id="35" name="Text 31"/>
          <p:cNvSpPr txBox="1"/>
          <p:nvPr/>
        </p:nvSpPr>
        <p:spPr>
          <a:xfrm>
            <a:off x="8275320" y="44805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Orchestration, Automation &amp; Response executes playbooks to contain threats instantly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92608"/>
            <a:ext cx="457200" cy="722376"/>
          </a:xfrm>
          <a:prstGeom prst="rect">
            <a:avLst/>
          </a:prstGeom>
        </p:spPr>
      </p:pic>
      <p:pic>
        <p:nvPicPr>
          <p:cNvPr id="3" name="Image 1" descr="/home/claude/work/assets/logo_sim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92608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80160" y="2926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/ REAL-WORLD USE CASES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1280160" y="960120"/>
            <a:ext cx="9601200" cy="0"/>
          </a:xfrm>
          <a:prstGeom prst="line">
            <a:avLst/>
          </a:prstGeom>
          <a:noFill/>
          <a:ln w="19050">
            <a:solidFill>
              <a:srgbClr val="EEF4F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40080" y="12344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1B3A5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914400" y="123444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&amp; ransomware detection using behavioural analysis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263640" y="12344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2E9E8E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537960" y="123444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 detection and prevention (IDS/IPS)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288036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1B3A5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14400" y="288036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and business-email-compromise detection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63640" y="288036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2E9E8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537960" y="288036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Insider-threat detection via user behaviour analytics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452628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1B3A5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14400" y="452628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fraud detection in banking and fintech platforms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63640" y="452628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2E9E8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37960" y="452628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Security Operations Centre (SOC) copilots for faster triage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92608"/>
            <a:ext cx="457200" cy="722376"/>
          </a:xfrm>
          <a:prstGeom prst="rect">
            <a:avLst/>
          </a:prstGeom>
        </p:spPr>
      </p:pic>
      <p:pic>
        <p:nvPicPr>
          <p:cNvPr id="3" name="Image 1" descr="/home/claude/work/assets/logo_sim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92608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80160" y="2926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LIMITATIONS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1280160" y="960120"/>
            <a:ext cx="9601200" cy="0"/>
          </a:xfrm>
          <a:prstGeom prst="line">
            <a:avLst/>
          </a:prstGeom>
          <a:noFill/>
          <a:ln w="19050">
            <a:solidFill>
              <a:srgbClr val="EEF4F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48640" y="1234440"/>
            <a:ext cx="5394960" cy="5029200"/>
          </a:xfrm>
          <a:prstGeom prst="rect">
            <a:avLst>
              <a:gd name="adj" fmla="val 1455"/>
            </a:avLst>
          </a:prstGeom>
          <a:solidFill>
            <a:srgbClr val="EEF4F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and response at machine speed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across massive volumes of traffic and logs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previously unseen, zero-day style attacks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analyst workload and false-alarm fatigue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improves as it learns from new data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217920" y="1234440"/>
            <a:ext cx="5394960" cy="5029200"/>
          </a:xfrm>
          <a:prstGeom prst="rect">
            <a:avLst>
              <a:gd name="adj" fmla="val 1455"/>
            </a:avLst>
          </a:prstGeom>
          <a:solidFill>
            <a:srgbClr val="1B3A5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53796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53796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adversarial attacks that fool ML models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produces false positives and false negatives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depends heavily on quality training data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explainability makes analyst trust harder to build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computational cost to train and continuously retrain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92608"/>
            <a:ext cx="457200" cy="722376"/>
          </a:xfrm>
          <a:prstGeom prst="rect">
            <a:avLst/>
          </a:prstGeom>
        </p:spPr>
      </p:pic>
      <p:pic>
        <p:nvPicPr>
          <p:cNvPr id="3" name="Image 1" descr="/home/claude/work/assets/logo_sim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92608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80160" y="2926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TRENDS, CHALLENGES &amp; FUTURE SCOPE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1280160" y="960120"/>
            <a:ext cx="9601200" cy="0"/>
          </a:xfrm>
          <a:prstGeom prst="line">
            <a:avLst/>
          </a:prstGeom>
          <a:noFill/>
          <a:ln w="19050">
            <a:solidFill>
              <a:srgbClr val="EEF4F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48640" y="1234440"/>
            <a:ext cx="5394960" cy="5029200"/>
          </a:xfrm>
          <a:prstGeom prst="rect">
            <a:avLst>
              <a:gd name="adj" fmla="val 1455"/>
            </a:avLst>
          </a:prstGeom>
          <a:solidFill>
            <a:srgbClr val="EEF4F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Developments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and LLM-powered SOC copilots that summarise and triage alerts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for advanced behavioural analytics (UEBA)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used to simulate attacks for proactive red-teaming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integration of AI detection with Zero Trust architectures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217920" y="1234440"/>
            <a:ext cx="5394960" cy="5029200"/>
          </a:xfrm>
          <a:prstGeom prst="rect">
            <a:avLst>
              <a:gd name="adj" fmla="val 1455"/>
            </a:avLst>
          </a:prstGeom>
          <a:solidFill>
            <a:srgbClr val="2E9E8E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53796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Scope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53796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machine learning: attackers actively trying to deceive AI defences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data privacy with the need for rich behavioural monitoring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of professionals skilled in both AI and security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autonomous, self-healing SOCs with explainable AI decisions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92608"/>
            <a:ext cx="457200" cy="722376"/>
          </a:xfrm>
          <a:prstGeom prst="rect">
            <a:avLst/>
          </a:prstGeom>
        </p:spPr>
      </p:pic>
      <p:pic>
        <p:nvPicPr>
          <p:cNvPr id="3" name="Image 1" descr="/home/claude/work/assets/logo_sim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92608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80160" y="2926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STUDY, CONCLUSION &amp; REFERENCES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1280160" y="960120"/>
            <a:ext cx="9601200" cy="0"/>
          </a:xfrm>
          <a:prstGeom prst="line">
            <a:avLst/>
          </a:prstGeom>
          <a:noFill/>
          <a:ln w="19050">
            <a:solidFill>
              <a:srgbClr val="EEF4F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48640" y="123444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EF4F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" y="13716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Darktrace's Enterprise Immune System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unsupervised machine learning to build a live picture of “normal” behaviour for every user and device in a network, then autonomously detects and contains subtle, never-seen-before threats without relying on fixed rules or signatures.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48640" y="288036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1B3A5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68680" y="30175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become a core pillar of modern cybersecurity, enabling faster, smarter and more scalable threat detection than traditional rule-based systems. However, it works best as a force-multiplier for human analysts, not a full replacement — continued oversight, explainability and defence against adversarial ML remain essential.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89204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A. Ferrag et al., “Deep Learning for Cyber Security Intrusion Detection,” IEEE Access, 2023.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Kumar and S. Sharma, “A Survey on AI-Based Threat Detection Techniques,” Journal of Network Security, 2024.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Darktrace, “The Enterprise Immune System: Self-Learning Cyber Defence,” Whitepaper, 2023.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Security, “Security Copilot: Generative AI for the SOC,” Technical Report, 2024.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2026-08-26T18:50:12Z</dcterms:created>
  <dcterms:modified xsi:type="dcterms:W3CDTF">2026-08-26T18:50:12Z</dcterms:modified>
</cp:coreProperties>
</file>